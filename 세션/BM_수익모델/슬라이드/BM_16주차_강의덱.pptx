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오프닝. 오늘은 '돈 버는 구조'를 기획자의 언어로 다룬다. 아이디어톤에서 만들어봤고 곧 해커톤에서 또 만든다 → 그 서비스가 어떻게 지속되는지 답할 수 있게 만드는 세션.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목표를 못 박기. 가치·수익·비용 중 오늘은 '수익'. 이 세 가지를 다 설명할 수 있어야 기획이 절반이 아니라 완성된다.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동기 부여 슬라이드. 학생들이 이미 겪은 상황(발표 Q&amp;A)으로 시작. 1주차 역기획 5질문의 마지막(수익 포인트 발견)을 오늘 본격적으로 파는 거라고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전체의 결론을 먼저 보여주는 슬라이드. 가치→수익→비용 흐름을 한 번 읽어주고, 오늘은 수익에 집중한다고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2주차 Why-Who-What-How가 비즈니스 모델의 뼈대. 거기에 '어떻게 지속되는가(돈·비용)'를 더한 게 BM, 그 마지막 칸 하나가 수익 모델. 비유로 각인.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수익 모델은 보통 2~3개 조합. '구독입니다'가 왜 어색한지 토론으로 끌어내기 — 지불 주체/문제가 빠졌다는 걸 다음 슬라이드들로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표는 유인물로 넘기고 화면에선 4~5개만 짚기(구독·광고·거래수수료·인앱). 각 모델은 '잘 맞는 서비스 1개 + 봐야 할 숫자 1개'만.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한 문장으로 마무리: 발명이 아니라 선택과 조합. 다음은 익숙한 앱으로 직접 분류해보는 워밍업.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토론으로 진행. 손들어 앱 하나 정하고 4질문 같이 답. 마지막 '지불 주체' 질문에서 다음 슬라이드(배민 예시)로 자연스럽게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배민은 거래 수수료형 + 광고형. 핵심은 돈 내는 사람이 사장님이라는 것(쓰는 사람은 손님). 지불 주체 감각을 각인.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5질문을 빠르게. 가장 강조할 건 '지불 주체'(파란 줄). 다음 슬라이드에서 한 문장으로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문장만 가져가도 성공. 페르소나(2주차)와 직접 연결. 실습 들어가기 직전의 체크포인트.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팀당 아이디어톤 프로젝트 1개 선정(3분). 기준을 명확히: 수익 얘기할 거리 많은 것. 왼쪽 4칸은 옮겨 적기로 시간 절약.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워크시트 핵심 화면. 왼쪽(1~4)은 옮겨 적기. 6·7(수익원·비용)에 시간 집중. 8(핵심 지표)은 지금 비우고 다음 파트에서 채운다. 타임키핑: 11/6/2분 알림.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순회하며 던질 질문 3개. 특히 세 번째 '성립하려면 무엇이 참?' = 가장 위험한 가정(RAT). 해커톤 검증으로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 강조: 수익 모델을 먼저 골라본 뒤에 지표를 배워야 와닿는다. 5개는 '쉬운 뜻+한 줄 질문'만. 계산보다 '무엇을 볼지'.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 다 보지 말고 수익원에 맞는 1개만 골라 8칸에 적게. LTV/CAC 3:1은 경험칙. LTV는 마진 기준(매출 기준이면 20~40% 과대평가). 심화 지표는 이름만.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챕터는 '이런 게 있다' 정도만. 가치 기반 가격(가치 제안과 직결)만 제대로 짚고, VW/GG는 이름만. 남길 한 문장: 가격은 감이 아니라 전략.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해커톤 발표 전 점검용. 왼쪽(빨강)=흔한 실수, 오른쪽(파랑)=고친 문장. 과장 표현(무조건/완벽하게/기하급수적)도 쓰지 않게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발표용 안전 문장 + 빈칸 채우는 1분 발표 템플릿. 팀이 그대로 읽을 수 있게. 다음은 교차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2팀이라 교차 피드백이 효율적. 오늘 산출물(6·7칸, 가장 위험한 가정)이 해커톤 검증 재료가 된다는 걸 못 박고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가치·수익·비용 한 번 더. 오늘은 '돈'. 너희 팀 BM은? 으로 해커톤 동기 부여하며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37160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233B66"/>
          </a:solidFill>
          <a:ln/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326880" y="246888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0066CC"/>
          </a:solidFill>
          <a:ln/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0" y="356616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2C4A7A"/>
          </a:solidFill>
          <a:ln/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55480" y="2697480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8EC3FF"/>
          </a:solidFill>
          <a:ln/>
        </p:spPr>
      </p:sp>
      <p:sp>
        <p:nvSpPr>
          <p:cNvPr id="6" name="Shape 4"/>
          <p:cNvSpPr/>
          <p:nvPr/>
        </p:nvSpPr>
        <p:spPr>
          <a:xfrm>
            <a:off x="9555480" y="306324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AFCBF2"/>
          </a:solidFill>
          <a:ln/>
        </p:spPr>
      </p:sp>
      <p:sp>
        <p:nvSpPr>
          <p:cNvPr id="7" name="Shape 5"/>
          <p:cNvSpPr/>
          <p:nvPr/>
        </p:nvSpPr>
        <p:spPr>
          <a:xfrm>
            <a:off x="10469880" y="3429000"/>
            <a:ext cx="310896" cy="310896"/>
          </a:xfrm>
          <a:prstGeom prst="ellipse">
            <a:avLst/>
          </a:prstGeom>
          <a:solidFill>
            <a:srgbClr val="0072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700" b="1" dirty="0">
                <a:solidFill>
                  <a:srgbClr val="8EC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10789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EC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UX/UI TRACK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16.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 &amp;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“우리가 만든 서비스, </a:t>
            </a:r>
            <a:pPr indent="0" marL="0">
              <a:buNone/>
            </a:pPr>
            <a:r>
              <a:rPr lang="en-US" sz="1700" b="1" dirty="0">
                <a:solidFill>
                  <a:srgbClr val="8EC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이거 어떻게 돈 벌어요?</a:t>
            </a:r>
            <a:pPr indent="0" marL="0">
              <a:buNone/>
            </a:pPr>
            <a:r>
              <a:rPr lang="en-US" sz="1700" dirty="0">
                <a:solidFill>
                  <a:srgbClr val="C9D4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파트 · 16주차 BM 세션 · 기획 입문자 대상 · 60~80분 · 3명씩 2팀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79615" y="658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Official LIKELION at SKU · UX/UI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「이거 어떻게 돈 벌어요?」 에</a:t>
            </a:r>
            <a:endParaRPr lang="en-US" sz="29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기획자로서 답하기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77240" y="3611880"/>
            <a:ext cx="3337560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4663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쓰이는가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26280" y="3611880"/>
            <a:ext cx="3337560" cy="1874520"/>
          </a:xfrm>
          <a:prstGeom prst="roundRect">
            <a:avLst>
              <a:gd name="adj" fmla="val 4390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4663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돈을 낼 만한가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39776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0E8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977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초점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3611880"/>
            <a:ext cx="3337560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9536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95360" y="4663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유지되는가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28620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기획은 화면을 잘 그리는 데서 끝나지 않습니다. 왜 쓰이고·왜 돈을 낼 만하고·어떻게 유지되는지까지 — 오늘은 그중 ‘돈’을 책임집니다.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· 왜 기획자가 돈 구조를 알아야 할까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때 꼭 나오는 그 질문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908792" cy="1554480"/>
          </a:xfrm>
          <a:prstGeom prst="roundRect">
            <a:avLst>
              <a:gd name="adj" fmla="val 5294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46888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“그래서 이거… 어떻게 돈 벌어요?”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</a:t>
            </a:r>
            <a:pPr indent="0" marL="0">
              <a:buNone/>
            </a:pPr>
            <a:r>
              <a:rPr lang="en-US" sz="170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“광고 붙이면 되죠”</a:t>
            </a:r>
            <a:pPr indent="0" marL="0">
              <a:buNone/>
            </a:pPr>
            <a:r>
              <a:rPr lang="en-US" sz="17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라고 답하는 순간 — 기획이 절반만 끝난 게 들통납니다.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120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역기획 연결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0" y="510235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역기획 5질문의 마지막 단계에서 찾아본 ‘수익 장치는 어디?’ — 오늘은 그게 무슨 종류이고, 왜 골랐고, 우리 서비스엔 뭐가 맞는지까지 갑니다.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먼저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기획은 여기까지 설명한다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3154680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1272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쓰이고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86200" y="2743200"/>
            <a:ext cx="5669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C3FF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453128" y="2743200"/>
            <a:ext cx="3154680" cy="1737360"/>
          </a:xfrm>
          <a:prstGeom prst="roundRect">
            <a:avLst>
              <a:gd name="adj" fmla="val 4737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53128" y="31272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36008" y="37673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돈을 낼 만하고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07808" y="2743200"/>
            <a:ext cx="5669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C3FF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174736" y="2743200"/>
            <a:ext cx="3154680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74736" y="31272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57616" y="37673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유지되는가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489204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오늘은 그중 </a:t>
            </a:r>
            <a:pPr indent="0" marL="0">
              <a:buNone/>
            </a:pPr>
            <a:r>
              <a:rPr lang="en-US" sz="170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‘돈(수익)’</a:t>
            </a:r>
            <a:pPr indent="0" marL="0">
              <a:buNone/>
            </a:pPr>
            <a:r>
              <a:rPr lang="en-US" sz="17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부분을 책임집니다. — 화면을 잘 그리는 것만으로 서비스는 완성되지 않습니다.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 구분 · 둘은 포함 관계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 vs 수익 모델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E7F6F1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26060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060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 공식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77440" y="260604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 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고객 + 문제 + 가치 + 전달 + 비용 + 수익      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 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그중 ‘돈 들어오는 방식’ 한 조각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" y="35844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 Why·Who·What·How가 BM의 뼈대 — 거기에 ‘어떻게 지속되는가(돈·비용)’를 더한 게 BM, 수익 모델은 그 마지막 칸 하나.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303520" cy="2103120"/>
          </a:xfrm>
          <a:prstGeom prst="roundRect">
            <a:avLst>
              <a:gd name="adj" fmla="val 3913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2702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4892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사업은 어떻게 작동하고 지속되는가?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0584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  </a:t>
            </a:r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 전체 운영 설계도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45352" y="3977640"/>
            <a:ext cx="5303520" cy="2103120"/>
          </a:xfrm>
          <a:prstGeom prst="roundRect">
            <a:avLst>
              <a:gd name="adj" fmla="val 3913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11112" y="42702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11112" y="4892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돈은 누구에게서 어떤 방식으로 들어오는가?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11112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  </a:t>
            </a:r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계산대에서 돈 받는 방식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예시로 보기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마케팅 서비스라면?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74720" y="25146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외식업 사장님의 리뷰·고객 데이터를 분석해 홍보 콘텐츠 생성을 돕는 AI 마케팅 비서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730752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73075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373075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구독료  +  영상 생성 건당 과금  +  프리미엄 리포트 판매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10908792" cy="1097280"/>
          </a:xfrm>
          <a:prstGeom prst="roundRect">
            <a:avLst>
              <a:gd name="adj" fmla="val 7500"/>
            </a:avLst>
          </a:prstGeom>
          <a:solidFill>
            <a:srgbClr val="FFF0E8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52120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212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 토론 · 2분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26080" y="519379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“우리 비즈니스 모델은 구독입니다.”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— 이 문장, 어디가 어색할까요?  </a:t>
            </a:r>
            <a:pPr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(구독은 ‘돈 받는 방식’일 뿐, 누구의 무슨 문제를 푸는지가 빠졌죠.)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15개 수익 모델 · 외울 필요 없는 ‘메뉴판’ (1/2)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버는 방식은 거의 정해져 있다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 발명하는 게 아니라, 이미 있는 구조 중 우리에 맞는 걸 고르고 섞습니다 (보통 2~3개).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87168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3200400"/>
                <a:gridCol w="2651760"/>
                <a:gridCol w="21305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No.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수익 모델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 뜻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잘 맞는 서비스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봐야 할 숫자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구독형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월·연 단위 반복 결제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SaaS, OTT, 뉴스레터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매출, 이탈률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프리미엄(Freemium)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무료, 고급 유료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생산성·협업·디자인 툴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무료→유료 전환율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기부·후원형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팬·사용자의 자발적 후원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창작자, 커뮤니티, 오픈소스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후원액, 후원 지속률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 무료, 광고주가 지불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미디어, 검색, SNS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트래픽(DAU/MAU), CTR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수수료형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성사 시 일정 비율 수취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마켓플레이스, 배달앱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거래액(GMV), 수수료율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제휴(어필리에이트)형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고객을 보내주고 소개료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리뷰·추천 콘텐츠, 블로그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전환율, 전환당 수익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직접판매형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제품·콘텐츠를 직접 판매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전자책, 강의, 굿즈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객단가, 재구매율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인앱 구매형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앱 안 아이템·기능 개별 구매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게임, AI 앱, 콘텐츠 앱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결제자 비율, 결제자당 매출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15개 수익 모델 · ‘메뉴판’ (2/2)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고르고 섞는다 — 대부분 2~3개 조합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3200400"/>
                <a:gridCol w="2651760"/>
                <a:gridCol w="21305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No.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수익 모델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 뜻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잘 맞는 서비스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봐야 할 숫자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라이선스형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기술·콘텐츠·IP 사용권 판매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폰트, 캐릭터, 엔진, 특허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 수, 갱신률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화이트라벨·OEM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제품을 남의 브랜드로 공급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솔루션, API 제품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파트너 수, 유지율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종량제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쓴 만큼 지불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클라우드, API, AI 토큰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사용량, 단위 원가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면도기-면도날형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본체는 싸게, 소모품에서 수익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프린터·잉크, 캡슐커피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소모품 재구매율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성과보수형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결과가 나왔을 때만 청구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채용, 광고 대행, 리드 생성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성과 발생률, 건당 수익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판매형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쌓인 데이터를 리포트·API로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상권 분석, 시장 리포트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품질, 구매 반복률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렌탈·대여형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소유가 아니라 기간 사용권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차량, 장비, 공간, 의류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가동률, 회수 기간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687568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0E8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568756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 </a:t>
            </a:r>
            <a:pPr indent="0" marL="0">
              <a:buNone/>
            </a:pPr>
            <a:r>
              <a:rPr lang="en-US" sz="1500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모델은 발명이 아니라 </a:t>
            </a:r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선택과 조합</a:t>
            </a:r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고객 행동·사용 빈도·원가에 맞는 걸 고르는 일 </a:t>
            </a:r>
            <a:pPr indent="0" marL="0">
              <a:buNone/>
            </a:pPr>
            <a:r>
              <a:rPr lang="en-US" sz="150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(→ 다음, 고르는 5질문).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워밍업 · 전체 함께 약 5분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익숙한 앱의 ‘수익 포인트’ 읽기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역기획 5질문의 마지막(⑤ 수익 포인트)을 한 발 더 밀고 갑니다. 모두가 아는 앱 1개(배달의민족·토스·유튜브·당근)로 4가지를 같이 답해봅시다.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291840"/>
            <a:ext cx="603504" cy="60350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291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05079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포인트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돈이 발생하는 지점은 어디인가?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10712" y="2971800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03320" y="3291840"/>
            <a:ext cx="603504" cy="60350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3291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85032" y="405079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분류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685032" y="454456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15개 중 무엇인가? (하나가 아닐 수 있음)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81344" y="2971800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3291840"/>
            <a:ext cx="603504" cy="60350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3291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55664" y="405079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455664" y="454456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서비스엔 왜 그 모델이 맞을까?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51976" y="2971800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44584" y="3291840"/>
            <a:ext cx="603504" cy="603504"/>
          </a:xfrm>
          <a:prstGeom prst="ellipse">
            <a:avLst/>
          </a:prstGeom>
          <a:solidFill>
            <a:srgbClr val="E8541B"/>
          </a:solidFill>
          <a:ln/>
        </p:spPr>
      </p:sp>
      <p:sp>
        <p:nvSpPr>
          <p:cNvPr id="25" name="Text 23"/>
          <p:cNvSpPr/>
          <p:nvPr/>
        </p:nvSpPr>
        <p:spPr>
          <a:xfrm>
            <a:off x="9244584" y="3291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26296" y="405079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지불 주체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226296" y="454456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내는 사람 = 앱 쓰는 사람인가?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‘지불 주체가 다르다’는 감각 — 오늘의 핵심 중 하나입니다.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워밍업 예시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배달의민족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320040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포인트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광고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31920" y="2697480"/>
            <a:ext cx="5669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C3FF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98848" y="2697480"/>
            <a:ext cx="320040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분류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수수료형 + 광고형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699248" y="2697480"/>
            <a:ext cx="5669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C3FF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266176" y="2697480"/>
            <a:ext cx="3200400" cy="1828800"/>
          </a:xfrm>
          <a:prstGeom prst="roundRect">
            <a:avLst>
              <a:gd name="adj" fmla="val 4500"/>
            </a:avLst>
          </a:prstGeom>
          <a:solidFill>
            <a:srgbClr val="FFF0E8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40496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지불 주체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40496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 사장님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(쓰는 사람은 손님!)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498348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내는 사람 ≠ 쓰는 사람.  </a:t>
            </a:r>
            <a:pPr indent="0" marL="0">
              <a:buNone/>
            </a:pPr>
            <a:r>
              <a:rPr lang="en-US" sz="16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광고형·B2B는 이렇게 지불 주체가 갈립니다. 이걸 놓치면 수익 모델이 통째로 어긋나요.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기준 · ‘억지 수익 모델’ 거르기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 고르는 5가지 질문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‘돈 될 것 같은 방식’이 아니라 ‘고객 행동·비용 구조에 맞는 방식’을 고릅니다.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523744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4231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빈도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23360" y="242316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매일·매주 반복해서 쓰나?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12480" y="24231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구독형 · 프리미엄 · 인앱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172968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273552"/>
            <a:ext cx="457200" cy="457200"/>
          </a:xfrm>
          <a:prstGeom prst="ellipse">
            <a:avLst/>
          </a:prstGeom>
          <a:solidFill>
            <a:srgbClr val="E8541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1729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지불 주체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31729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내나, 제3자가 내나?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2480" y="31729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직접판매 / 광고·제휴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922776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39227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발생 시점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23360" y="392277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순간? 결과가 나와야?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412480" y="39227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종량제 / 성과보수형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0080" y="4672584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" y="4773168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08760" y="46725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 구조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23360" y="467258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쓸수록 서버·AI 비용도 느나?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412480" y="46725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종량제 · 하이브리드 구독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0080" y="5422392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68680" y="5522976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08760" y="54223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반복성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023360" y="542239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팔고 끝? 계속 받나?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412480" y="54223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 · 렌탈 · 면도날형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꼭 기억할 질문 하나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908792" cy="2011680"/>
          </a:xfrm>
          <a:prstGeom prst="roundRect">
            <a:avLst>
              <a:gd name="adj" fmla="val 4091"/>
            </a:avLst>
          </a:prstGeom>
          <a:solidFill>
            <a:srgbClr val="1B2A4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286000"/>
            <a:ext cx="9994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“돈 내는 사람 = 쓰는 사람인가?”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2주차에 만든 </a:t>
            </a:r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페르소나</a:t>
            </a:r>
            <a:pPr algn="ctr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정말 ‘돈을 내는 사람’인지 확인하세요. </a:t>
            </a:r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광고형·B2B는 쓰는 사람과 내는 사람이 다릅니다. </a:t>
            </a:r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놓치면 수익 모델이 통째로 어긋나요.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본실습 · 프로젝트 선정 3분 + 작성 22분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린캔버스 만들기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린캔버스란?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 전체를 한 장(9칸)에 정리하는 도구. 9칸을 더 자세히 쓰는 게 BMC, 초기 검증용으로 줄인 게 린캔버스예요.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242316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11112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소식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11112" y="3108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아이디어톤에서 이미 절반은 만들었어요. 왼쪽은 옮겨 적고, 오른쪽(돈)에 시간을 쓰면 됩니다.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FFF0E8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480060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800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선정 기준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‘제일 잘 만든 프로젝트’가 아니라 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‘수익 얘기할 거리가 가장 많은 프로젝트’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고르세요.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뽑힌 2명도 ‘내 프로젝트라면?’으로 계속 의견 내며 참여합니다.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린캔버스 9칸 · ①→⑨ 순서대로 · 오른쪽 ‘돈’에 시간 쓰기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장으로 완성하는 비즈니스 모델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514600"/>
            <a:ext cx="402336" cy="40233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53312" y="251460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59536" y="299618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옮겨 적기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5112" y="2331720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514600"/>
            <a:ext cx="402336" cy="40233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38344" y="251460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고객군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44568" y="299618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옮겨 적기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10144" y="2331720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11312" y="2514600"/>
            <a:ext cx="402336" cy="40233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9" name="Text 17"/>
          <p:cNvSpPr/>
          <p:nvPr/>
        </p:nvSpPr>
        <p:spPr>
          <a:xfrm>
            <a:off x="8211312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23376" y="251460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고유 가치 제안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29600" y="299618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다듬기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599688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3782568"/>
            <a:ext cx="402336" cy="40233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3782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3312" y="3782568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솔루션(MVP)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59536" y="42641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옮겨 적기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5112" y="3599688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3782568"/>
            <a:ext cx="402336" cy="40233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3782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38344" y="3782568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544568" y="42641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짧게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10144" y="3599688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11312" y="3782568"/>
            <a:ext cx="402336" cy="402336"/>
          </a:xfrm>
          <a:prstGeom prst="ellipse">
            <a:avLst/>
          </a:prstGeom>
          <a:solidFill>
            <a:srgbClr val="E8541B"/>
          </a:solidFill>
          <a:ln/>
        </p:spPr>
      </p:sp>
      <p:sp>
        <p:nvSpPr>
          <p:cNvPr id="34" name="Text 32"/>
          <p:cNvSpPr/>
          <p:nvPr/>
        </p:nvSpPr>
        <p:spPr>
          <a:xfrm>
            <a:off x="8211312" y="3782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23376" y="3782568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수익원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8229600" y="426415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42641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4867656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41248" y="5050536"/>
            <a:ext cx="402336" cy="402336"/>
          </a:xfrm>
          <a:prstGeom prst="ellipse">
            <a:avLst/>
          </a:prstGeom>
          <a:solidFill>
            <a:srgbClr val="E8541B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5050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353312" y="5050536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구조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859536" y="55321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59536" y="5532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325112" y="4867656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0F2F6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26280" y="5050536"/>
            <a:ext cx="402336" cy="402336"/>
          </a:xfrm>
          <a:prstGeom prst="ellipse">
            <a:avLst/>
          </a:prstGeom>
          <a:solidFill>
            <a:srgbClr val="8A93A2"/>
          </a:solidFill>
          <a:ln/>
        </p:spPr>
      </p:sp>
      <p:sp>
        <p:nvSpPr>
          <p:cNvPr id="46" name="Text 44"/>
          <p:cNvSpPr/>
          <p:nvPr/>
        </p:nvSpPr>
        <p:spPr>
          <a:xfrm>
            <a:off x="4526280" y="5050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38344" y="5050536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</a:t>
            </a:r>
            <a:endParaRPr lang="en-US" sz="1550" dirty="0"/>
          </a:p>
        </p:txBody>
      </p:sp>
      <p:sp>
        <p:nvSpPr>
          <p:cNvPr id="48" name="Shape 46"/>
          <p:cNvSpPr/>
          <p:nvPr/>
        </p:nvSpPr>
        <p:spPr>
          <a:xfrm>
            <a:off x="4544568" y="5532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7EAF0"/>
          </a:solidFill>
          <a:ln/>
        </p:spPr>
      </p:sp>
      <p:sp>
        <p:nvSpPr>
          <p:cNvPr id="49" name="Text 47"/>
          <p:cNvSpPr/>
          <p:nvPr/>
        </p:nvSpPr>
        <p:spPr>
          <a:xfrm>
            <a:off x="4544568" y="5532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후 채움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010144" y="4867656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211312" y="5050536"/>
            <a:ext cx="402336" cy="40233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2" name="Text 50"/>
          <p:cNvSpPr/>
          <p:nvPr/>
        </p:nvSpPr>
        <p:spPr>
          <a:xfrm>
            <a:off x="8211312" y="5050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723376" y="5050536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우위</a:t>
            </a:r>
            <a:endParaRPr lang="en-US" sz="1550" dirty="0"/>
          </a:p>
        </p:txBody>
      </p:sp>
      <p:sp>
        <p:nvSpPr>
          <p:cNvPr id="54" name="Text 52"/>
          <p:cNvSpPr/>
          <p:nvPr/>
        </p:nvSpPr>
        <p:spPr>
          <a:xfrm>
            <a:off x="8229600" y="553212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짧게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0080" y="61081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①→⑨ 순서로 채웁니다. 수익원·비용 구조에 시간을 몰아 쓰고, 핵심 지표 칸은 비워둡니다 (다음 강의 후 채움).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수익원 칸 채울 때 · 팀 토론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‘이 수익이 성립하려면?’ 까지 묻기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660904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46888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수익 모델은 15개 중 무엇인가? (5질문으로 근거 대기)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419856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61188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419856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내는 사람 = 쓰는 사람인가?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370832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562856"/>
            <a:ext cx="457200" cy="457200"/>
          </a:xfrm>
          <a:prstGeom prst="ellipse">
            <a:avLst/>
          </a:prstGeom>
          <a:solidFill>
            <a:srgbClr val="E8541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370832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수익이 성립하려면 무엇이 참이어야 하나?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0E8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544068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위험한 가정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“사장님이 월 3만원을 낼 만큼 효과를 느낀다.” 이게 틀리면 모델이 무너져요 — 해커톤에서 검증합니다.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지표 · 순서 주의: 실습 다음에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수익이 진짜 남는지 보는 숫자</a:t>
            </a:r>
            <a:endParaRPr lang="en-US" sz="2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5935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쉬운 뜻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 질문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CAC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1명 데려오는 데 든 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명 모으는 데 얼마?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LTV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1명이 떠날 때까지 남기는 가치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명이 평생 얼마 남겨?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LTV / CAC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둘의 비율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데려올 만한 장사인가?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이탈률(Churn)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고객·매출이 빠져나가는 비율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얼마나 빨리 떠나?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GMV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플랫폼에서 일어난 총 거래액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규모가 커지나?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입문 단계에선 정확한 계산보다 ‘무슨 숫자를 봐야 하는지’만 알면 충분합니다.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연결 · 딱 1개만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수익원에 맞는 지표 1개만 고르기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4688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C3FF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160" y="24688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이탈률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45352" y="246888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24688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22792" y="24688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C3FF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71432" y="24688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트래픽 (DAU)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3794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17520" y="379476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C3FF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66160" y="3794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GMV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45352" y="379476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11112" y="3794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22792" y="379476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C3FF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71432" y="3794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전환율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FFF6DC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48920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“LTV/CAC 3:1이면 좋다”는 산업·단계마다 다른 </a:t>
            </a:r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경험칙일 뿐 절대 법칙이 아닙니다.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LTV는 매출이 아니라 마진 기준.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심화(이름만): CAC = 마케팅비 ÷ 새 유료고객 수 · LTV ≈ 고객당 매출 × 마진율 ÷ 이탈률(마진 기준) · 기여이익 · CAC 회수기간 · NRR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전략 · 맛보기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모델을 잘 골라도 가격을 틀리면 사업성이 무너집니다.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908792" cy="1691640"/>
          </a:xfrm>
          <a:prstGeom prst="roundRect">
            <a:avLst>
              <a:gd name="adj" fmla="val 4865"/>
            </a:avLst>
          </a:prstGeom>
          <a:solidFill>
            <a:srgbClr val="1B2A4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240280"/>
            <a:ext cx="99943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“가격은 감이 아니라 전략이다.”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기반 가격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8920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원가가 아니라 ‘고객이 느끼는 가치’ 기준으로 가격을 매김. 고유 가치 제안과 직결!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45352" y="420624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11112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이름만 알아두기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11112" y="48920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가격을 정교하게 조사하는 설문 기법 — Van Westendorp, Gabor-Granger. 필요할 때 찾아보면 됩니다.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발표·기획서 점검 · 해커톤 발표 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흔한 오해와 수정 문장</a:t>
            </a:r>
            <a:endParaRPr lang="en-US" sz="2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087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834640"/>
                <a:gridCol w="469087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잘못된 표현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왜 문제인가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더 정확한 표현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10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“비즈니스 모델은 구독입니다.”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구독은 수익 모델 한 조각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“B2B SaaS이고, 수익 모델은 월 구독형입니다.”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10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“광고 붙이면 수익화됩니다.”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트래픽·광고주 없으면 작음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“반복 트래픽이 일정 규모 이상이면 광고형 검토.”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10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“AI니까 무조건 종량제죠.”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예측 가능성·마진 균형 필요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“AI 사용량에 원가가 연동되니 구독+종량제 결합 검토.”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10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“MVP는 기능 최소 개발.”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랜딩·수기 운영도 MVP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“핵심 가치를 최소 방식으로 검증하는 실험.”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발표에서 안전한 문장 · 1분 발표 템플릿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말하면 안전합니다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908792" cy="1280160"/>
          </a:xfrm>
          <a:prstGeom prst="roundRect">
            <a:avLst>
              <a:gd name="adj" fmla="val 6429"/>
            </a:avLst>
          </a:prstGeom>
          <a:solidFill>
            <a:srgbClr val="E7F6F1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286000"/>
            <a:ext cx="9994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“현재 단계에서는 정교한 매출 추정보다 핵심 고객의 지불 의사와 반복 사용 가능성을 검증하는 것이 우선입니다. 이후 데이터가 쌓이면 가격과 지표를 조정하겠습니다.”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0908792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9776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 발표 템플릿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서비스는 </a:t>
            </a:r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[고객]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</a:t>
            </a:r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[문제]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</a:t>
            </a:r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[핵심 가치]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해결합니다.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97280" y="5166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모델은 </a:t>
            </a:r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[15개 중 1~2개]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이고, 가장 위험한 가정은 </a:t>
            </a:r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[가정]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이건 해커톤에서 </a:t>
            </a:r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[검증 방법]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확인하겠습니다.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 · 교차 발표 + 다음 단계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채운 칸이 해커톤으로 이어진다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990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발표 · 피드백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팀이 캔버스를 맞바꿔 보고 한 가지씩 피드백.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초점: ‘이 수익 모델, 그 고객에 맞아?’ · ‘돈 내는 사람이 누구야?’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45352" y="269748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11112" y="2990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해커톤으로 연결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11112" y="3566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채운 ⑥수익원·⑦비용 + 가장 위험한 가정 →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해커톤에서 그대로 검증하게 됩니다.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908792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49377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과제(선택)  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‘가장 위험한 가정 1개 + 검증 방법’ 한 줄 제출.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C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쓰이고 · 왜 돈을 낼 만하고 · 어떻게 유지되는가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오늘은 그중 ‘돈’을 책임졌습니다.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4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너희 팀 서비스의 BM은? — 해커톤에서 검증해봅시다.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algn="ctr" indent="0" marL="0">
              <a:buNone/>
            </a:pPr>
            <a:r>
              <a:rPr lang="en-US" sz="1400" b="1" dirty="0">
                <a:solidFill>
                  <a:srgbClr val="8EC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pPr algn="ctr" indent="0" marL="0">
              <a:buNone/>
            </a:pPr>
            <a:r>
              <a:rPr lang="en-US" sz="1400" b="1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UX/UI TRACK · 16주차 BM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모델 &amp; 수익 모델 — 16주차 BM</dc:title>
  <dc:subject>PptxGenJS Presentation</dc:subject>
  <dc:creator>SKU LIKELION UX/UI</dc:creator>
  <cp:lastModifiedBy>SKU LIKELION UX/UI</cp:lastModifiedBy>
  <cp:revision>1</cp:revision>
  <dcterms:created xsi:type="dcterms:W3CDTF">2026-06-30T03:06:37Z</dcterms:created>
  <dcterms:modified xsi:type="dcterms:W3CDTF">2026-06-30T03:06:37Z</dcterms:modified>
</cp:coreProperties>
</file>